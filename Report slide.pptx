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6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3291840" cy="3291840"/>
          </a:xfrm>
          <a:prstGeom prst="ellipse">
            <a:avLst/>
          </a:prstGeom>
          <a:solidFill>
            <a:srgbClr val="1B6B7B">
              <a:alpha val="18000"/>
            </a:srgbClr>
          </a:solidFill>
          <a:ln w="1905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2560320" cy="2560320"/>
          </a:xfrm>
          <a:prstGeom prst="ellipse">
            <a:avLst/>
          </a:prstGeom>
          <a:solidFill>
            <a:srgbClr val="2D8C9E">
              <a:alpha val="22000"/>
            </a:srgbClr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1645920" cy="1645920"/>
          </a:xfrm>
          <a:prstGeom prst="ellipse">
            <a:avLst/>
          </a:prstGeom>
          <a:solidFill>
            <a:srgbClr val="5BBFD6">
              <a:alpha val="30000"/>
            </a:srgbClr>
          </a:solidFill>
          <a:ln w="12700">
            <a:solidFill>
              <a:srgbClr val="5BBFD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4389120"/>
            <a:ext cx="73152" cy="73152"/>
          </a:xfrm>
          <a:prstGeom prst="ellipse">
            <a:avLst/>
          </a:prstGeom>
          <a:solidFill>
            <a:srgbClr val="5BBFD6">
              <a:alpha val="6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502920" y="4526280"/>
            <a:ext cx="73152" cy="73152"/>
          </a:xfrm>
          <a:prstGeom prst="ellipse">
            <a:avLst/>
          </a:prstGeom>
          <a:solidFill>
            <a:srgbClr val="5BBFD6">
              <a:alpha val="6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73152" cy="73152"/>
          </a:xfrm>
          <a:prstGeom prst="ellipse">
            <a:avLst/>
          </a:prstGeom>
          <a:solidFill>
            <a:srgbClr val="5BBFD6">
              <a:alpha val="6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4114800" y="274320"/>
            <a:ext cx="73152" cy="73152"/>
          </a:xfrm>
          <a:prstGeom prst="ellipse">
            <a:avLst/>
          </a:prstGeom>
          <a:solidFill>
            <a:srgbClr val="5BBFD6">
              <a:alpha val="6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297680" y="548640"/>
            <a:ext cx="73152" cy="73152"/>
          </a:xfrm>
          <a:prstGeom prst="ellipse">
            <a:avLst/>
          </a:prstGeom>
          <a:solidFill>
            <a:srgbClr val="5BBFD6">
              <a:alpha val="6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4434840" y="822960"/>
            <a:ext cx="73152" cy="73152"/>
          </a:xfrm>
          <a:prstGeom prst="ellipse">
            <a:avLst/>
          </a:prstGeom>
          <a:solidFill>
            <a:srgbClr val="5BBFD6">
              <a:alpha val="6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4846320" y="731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6947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DA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Exploring Artificial Intelligence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211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 MNIST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846320" y="2031235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B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 Classification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846320" y="2667750"/>
            <a:ext cx="3200400" cy="27432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4809744" y="2899915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Modeling with Fashion MNIST Dataset (Zalando)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00102" y="3536430"/>
            <a:ext cx="3203117" cy="1154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Member: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Jo-ann Obewe</a:t>
            </a:r>
          </a:p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Omole Peter</a:t>
            </a:r>
          </a:p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Naimot Yekini</a:t>
            </a:r>
          </a:p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Khaled Ahmed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0" y="3840480"/>
            <a:ext cx="2926080" cy="2926080"/>
          </a:xfrm>
          <a:prstGeom prst="ellipse">
            <a:avLst/>
          </a:prstGeom>
          <a:solidFill>
            <a:srgbClr val="1B6B7B">
              <a:alpha val="10000"/>
            </a:srgbClr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7772400" y="4206240"/>
            <a:ext cx="2194560" cy="2194560"/>
          </a:xfrm>
          <a:prstGeom prst="ellipse">
            <a:avLst/>
          </a:prstGeom>
          <a:solidFill>
            <a:srgbClr val="4A7C8E">
              <a:alpha val="12000"/>
            </a:srgbClr>
          </a:solidFill>
          <a:ln w="9525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Project 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30352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Neural Network classifier to recognise images from the Fashion MNIST dataset across 10 clothing categories.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606040"/>
            <a:ext cx="1536192" cy="68580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56232" y="2880360"/>
            <a:ext cx="164592" cy="137160"/>
          </a:xfrm>
          <a:prstGeom prst="rect">
            <a:avLst/>
          </a:prstGeom>
          <a:solidFill>
            <a:srgbClr val="1A2E3A">
              <a:alpha val="7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2020824" y="2606040"/>
            <a:ext cx="1536192" cy="685800"/>
          </a:xfrm>
          <a:prstGeom prst="rect">
            <a:avLst/>
          </a:prstGeom>
          <a:solidFill>
            <a:srgbClr val="2D8C9E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2020824" y="260604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57016" y="2880360"/>
            <a:ext cx="164592" cy="137160"/>
          </a:xfrm>
          <a:prstGeom prst="rect">
            <a:avLst/>
          </a:prstGeom>
          <a:solidFill>
            <a:srgbClr val="1A2E3A">
              <a:alpha val="7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3721608" y="2606040"/>
            <a:ext cx="1536192" cy="685800"/>
          </a:xfrm>
          <a:prstGeom prst="rect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3721608" y="260604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57800" y="2880360"/>
            <a:ext cx="164592" cy="137160"/>
          </a:xfrm>
          <a:prstGeom prst="rect">
            <a:avLst/>
          </a:prstGeom>
          <a:solidFill>
            <a:srgbClr val="1A2E3A">
              <a:alpha val="7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5422392" y="2606040"/>
            <a:ext cx="1536192" cy="685800"/>
          </a:xfrm>
          <a:prstGeom prst="rect">
            <a:avLst/>
          </a:prstGeom>
          <a:solidFill>
            <a:srgbClr val="7DA5B4"/>
          </a:solidFill>
          <a:ln w="12700">
            <a:solidFill>
              <a:srgbClr val="7DA5B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5422392" y="260604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58584" y="2880360"/>
            <a:ext cx="164592" cy="137160"/>
          </a:xfrm>
          <a:prstGeom prst="rect">
            <a:avLst/>
          </a:prstGeom>
          <a:solidFill>
            <a:srgbClr val="1A2E3A">
              <a:alpha val="7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7123176" y="2606040"/>
            <a:ext cx="1536192" cy="685800"/>
          </a:xfrm>
          <a:prstGeom prst="rect">
            <a:avLst/>
          </a:prstGeom>
          <a:solidFill>
            <a:srgbClr val="5BBFD6"/>
          </a:solidFill>
          <a:ln w="12700">
            <a:solidFill>
              <a:srgbClr val="5BBFD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7123176" y="260604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2395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474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D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64008" cy="1417320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457200" y="3547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85876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tiny 28×28 pixel grayscale images of clothing items into one of 10 categories — automatically, without human labelling.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3474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D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3246120" y="3474720"/>
            <a:ext cx="64008" cy="1417320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383280" y="3547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385876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Connected Neural Network trained end-to-end using TensorFlow/Keras with manual hyperparameter tuning.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3474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D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6172200" y="3474720"/>
            <a:ext cx="64008" cy="1417320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6309360" y="3547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85876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product tagging, visual search &amp; inventory automation in e-commerce — processing thousands of images in milliseconds.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Dataset 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1945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320040" y="13350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B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170432"/>
            <a:ext cx="21945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697480" y="13350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B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9748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404872"/>
            <a:ext cx="21945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320040" y="25694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B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3063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97480" y="2404872"/>
            <a:ext cx="21945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2697480" y="25694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B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× 28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97480" y="3063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Size (grayscale)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639312"/>
            <a:ext cx="21945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320040" y="38039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B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0040" y="4297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Classes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97480" y="3639312"/>
            <a:ext cx="21945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2697480" y="38039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B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6,000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697480" y="4297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Class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1170432"/>
            <a:ext cx="374904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5120640" y="1207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Clothing Categories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38928" y="1627632"/>
            <a:ext cx="1664208" cy="502920"/>
          </a:xfrm>
          <a:prstGeom prst="rect">
            <a:avLst/>
          </a:prstGeom>
          <a:solidFill>
            <a:srgbClr val="1B6B7B">
              <a:alpha val="50000"/>
            </a:srgbClr>
          </a:solidFill>
          <a:ln w="635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5138928" y="162763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 / Top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1627632"/>
            <a:ext cx="1664208" cy="502920"/>
          </a:xfrm>
          <a:prstGeom prst="rect">
            <a:avLst/>
          </a:prstGeom>
          <a:solidFill>
            <a:srgbClr val="2D8C9E">
              <a:alpha val="50000"/>
            </a:srgbClr>
          </a:solidFill>
          <a:ln w="635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6949440" y="162763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38928" y="2249424"/>
            <a:ext cx="1664208" cy="502920"/>
          </a:xfrm>
          <a:prstGeom prst="rect">
            <a:avLst/>
          </a:prstGeom>
          <a:solidFill>
            <a:srgbClr val="4A7C8E">
              <a:alpha val="50000"/>
            </a:srgbClr>
          </a:solidFill>
          <a:ln w="635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5138928" y="224942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Pullover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2249424"/>
            <a:ext cx="1664208" cy="502920"/>
          </a:xfrm>
          <a:prstGeom prst="rect">
            <a:avLst/>
          </a:prstGeom>
          <a:solidFill>
            <a:srgbClr val="7DA5B4">
              <a:alpha val="50000"/>
            </a:srgbClr>
          </a:solidFill>
          <a:ln w="6350">
            <a:solidFill>
              <a:srgbClr val="7DA5B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6949440" y="224942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38928" y="2871216"/>
            <a:ext cx="1664208" cy="502920"/>
          </a:xfrm>
          <a:prstGeom prst="rect">
            <a:avLst/>
          </a:prstGeom>
          <a:solidFill>
            <a:srgbClr val="1B6B7B">
              <a:alpha val="50000"/>
            </a:srgbClr>
          </a:solidFill>
          <a:ln w="635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5138928" y="287121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9440" y="2871216"/>
            <a:ext cx="1664208" cy="502920"/>
          </a:xfrm>
          <a:prstGeom prst="rect">
            <a:avLst/>
          </a:prstGeom>
          <a:solidFill>
            <a:srgbClr val="2D8C9E">
              <a:alpha val="50000"/>
            </a:srgbClr>
          </a:solidFill>
          <a:ln w="635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/>
          <p:nvPr/>
        </p:nvSpPr>
        <p:spPr>
          <a:xfrm>
            <a:off x="6949440" y="287121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38928" y="3493008"/>
            <a:ext cx="1664208" cy="502920"/>
          </a:xfrm>
          <a:prstGeom prst="rect">
            <a:avLst/>
          </a:prstGeom>
          <a:solidFill>
            <a:srgbClr val="4A7C8E">
              <a:alpha val="50000"/>
            </a:srgbClr>
          </a:solidFill>
          <a:ln w="635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5138928" y="349300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49440" y="3493008"/>
            <a:ext cx="1664208" cy="502920"/>
          </a:xfrm>
          <a:prstGeom prst="rect">
            <a:avLst/>
          </a:prstGeom>
          <a:solidFill>
            <a:srgbClr val="7DA5B4">
              <a:alpha val="50000"/>
            </a:srgbClr>
          </a:solidFill>
          <a:ln w="6350">
            <a:solidFill>
              <a:srgbClr val="7DA5B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0" name="Text 38"/>
          <p:cNvSpPr/>
          <p:nvPr/>
        </p:nvSpPr>
        <p:spPr>
          <a:xfrm>
            <a:off x="6949440" y="349300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38928" y="4114800"/>
            <a:ext cx="1664208" cy="502920"/>
          </a:xfrm>
          <a:prstGeom prst="rect">
            <a:avLst/>
          </a:prstGeom>
          <a:solidFill>
            <a:srgbClr val="1B6B7B">
              <a:alpha val="50000"/>
            </a:srgbClr>
          </a:solidFill>
          <a:ln w="635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2" name="Text 40"/>
          <p:cNvSpPr/>
          <p:nvPr/>
        </p:nvSpPr>
        <p:spPr>
          <a:xfrm>
            <a:off x="5138928" y="41148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9440" y="4114800"/>
            <a:ext cx="1664208" cy="502920"/>
          </a:xfrm>
          <a:prstGeom prst="rect">
            <a:avLst/>
          </a:prstGeom>
          <a:solidFill>
            <a:srgbClr val="2D8C9E">
              <a:alpha val="50000"/>
            </a:srgbClr>
          </a:solidFill>
          <a:ln w="635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Text 42"/>
          <p:cNvSpPr/>
          <p:nvPr/>
        </p:nvSpPr>
        <p:spPr>
          <a:xfrm>
            <a:off x="6949440" y="41148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 Boot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20640" y="4754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Data Preprocessing &amp; Splitting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02920" cy="502920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170432"/>
            <a:ext cx="7863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D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914400" y="1170432"/>
            <a:ext cx="64008" cy="1078992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1051560" y="1243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53619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scaled from 0–255 → 0–1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to float32 before dividing by 255. Ensures stable, faster gradient descent during training.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490472"/>
            <a:ext cx="2697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5989320" y="14904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B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X.astype('float32') / 255.0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542032"/>
            <a:ext cx="502920" cy="502920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27432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2432304"/>
            <a:ext cx="7863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D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914400" y="2432304"/>
            <a:ext cx="64008" cy="1078992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105156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79806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flattened: 28×28 → 784 pixels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2D image grid is unrolled into a 1D vector of 784 values for Dense (fully connected) layers.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2752344"/>
            <a:ext cx="2697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5989320" y="275234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B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X.reshape(-1, 28 * 28)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803904"/>
            <a:ext cx="502920" cy="502920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27432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3694176"/>
            <a:ext cx="7863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D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914400" y="3694176"/>
            <a:ext cx="64008" cy="1078992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105156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05993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training images split into: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Train: 49,500 (70.7%)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Validation: 10,500 (15%)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Test: 10,000 (14.3%)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4014216"/>
            <a:ext cx="2697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5989320" y="40142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B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stratify=y  →  balanced classes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Model Architecture &amp; Training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794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3200400" cy="502920"/>
          </a:xfrm>
          <a:prstGeom prst="rect">
            <a:avLst/>
          </a:prstGeom>
          <a:solidFill>
            <a:srgbClr val="4A7C8E">
              <a:alpha val="80000"/>
            </a:srgbClr>
          </a:solidFill>
          <a:ln w="1270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neurons  (28×28 pixels)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30552" y="2075688"/>
            <a:ext cx="45720" cy="301752"/>
          </a:xfrm>
          <a:prstGeom prst="rect">
            <a:avLst/>
          </a:prstGeom>
          <a:solidFill>
            <a:srgbClr val="7DA5B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777240" y="2377440"/>
            <a:ext cx="2743200" cy="502920"/>
          </a:xfrm>
          <a:prstGeom prst="rect">
            <a:avLst/>
          </a:prstGeom>
          <a:solidFill>
            <a:srgbClr val="1B6B7B">
              <a:alpha val="80000"/>
            </a:srgbClr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777240" y="2414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neurons  |  ReLU  |  Dropout 30%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30552" y="2880360"/>
            <a:ext cx="45720" cy="301752"/>
          </a:xfrm>
          <a:prstGeom prst="rect">
            <a:avLst/>
          </a:prstGeom>
          <a:solidFill>
            <a:srgbClr val="7DA5B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1005840" y="3182112"/>
            <a:ext cx="2286000" cy="502920"/>
          </a:xfrm>
          <a:prstGeom prst="rect">
            <a:avLst/>
          </a:prstGeom>
          <a:solidFill>
            <a:srgbClr val="2D8C9E">
              <a:alpha val="80000"/>
            </a:srgbClr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1005840" y="3218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neurons  |  ReLU  |  Dropout 30%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30552" y="3685032"/>
            <a:ext cx="45720" cy="301752"/>
          </a:xfrm>
          <a:prstGeom prst="rect">
            <a:avLst/>
          </a:prstGeom>
          <a:solidFill>
            <a:srgbClr val="7DA5B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1234440" y="3986784"/>
            <a:ext cx="1828800" cy="502920"/>
          </a:xfrm>
          <a:prstGeom prst="rect">
            <a:avLst/>
          </a:prstGeom>
          <a:solidFill>
            <a:srgbClr val="5BBFD6">
              <a:alpha val="80000"/>
            </a:srgbClr>
          </a:solidFill>
          <a:ln w="12700">
            <a:solidFill>
              <a:srgbClr val="5BBFD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1234440" y="4023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4261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neurons  |  Softmax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80560" y="1097280"/>
            <a:ext cx="43891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D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461772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1572768"/>
            <a:ext cx="4389120" cy="347472"/>
          </a:xfrm>
          <a:prstGeom prst="rect">
            <a:avLst/>
          </a:prstGeom>
          <a:solidFill>
            <a:srgbClr val="EEF4F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4617720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16276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(learning rate = 0.001)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1938528"/>
            <a:ext cx="43891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4617720" y="1993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 Cross-Entropy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2304288"/>
            <a:ext cx="4389120" cy="347472"/>
          </a:xfrm>
          <a:prstGeom prst="rect">
            <a:avLst/>
          </a:prstGeom>
          <a:solidFill>
            <a:srgbClr val="EEF4F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4617720" y="2359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images per step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2670048"/>
            <a:ext cx="43891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4617720" y="2724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7249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(with early stopping)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0" y="3035808"/>
            <a:ext cx="4389120" cy="347472"/>
          </a:xfrm>
          <a:prstGeom prst="rect">
            <a:avLst/>
          </a:prstGeom>
          <a:solidFill>
            <a:srgbClr val="EEF4F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4617720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30906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5 (monitors val_loss)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3401568"/>
            <a:ext cx="43891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0" name="Text 38"/>
          <p:cNvSpPr/>
          <p:nvPr/>
        </p:nvSpPr>
        <p:spPr>
          <a:xfrm>
            <a:off x="4617720" y="3456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= 0.30 per hidden layer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80560" y="3767328"/>
            <a:ext cx="4389120" cy="347472"/>
          </a:xfrm>
          <a:prstGeom prst="rect">
            <a:avLst/>
          </a:prstGeom>
          <a:solidFill>
            <a:srgbClr val="EEF4F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4617720" y="3822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Tested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38221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different architectures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80560" y="4133088"/>
            <a:ext cx="43891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6" name="Text 44"/>
          <p:cNvSpPr/>
          <p:nvPr/>
        </p:nvSpPr>
        <p:spPr>
          <a:xfrm>
            <a:off x="4617720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41879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89.85% (Config 2 — 2 layers, 128n)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80560" y="4498848"/>
            <a:ext cx="4389120" cy="347472"/>
          </a:xfrm>
          <a:prstGeom prst="rect">
            <a:avLst/>
          </a:prstGeom>
          <a:solidFill>
            <a:srgbClr val="EEF4F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/>
          <p:nvPr/>
        </p:nvSpPr>
        <p:spPr>
          <a:xfrm>
            <a:off x="4617720" y="4553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9360" y="4553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88.54%  |  Test Loss: 0.3334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80560" y="4498848"/>
            <a:ext cx="4389120" cy="347472"/>
          </a:xfrm>
          <a:prstGeom prst="rect">
            <a:avLst/>
          </a:prstGeom>
          <a:solidFill>
            <a:srgbClr val="1B6B7B">
              <a:alpha val="85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2" name="Text 50"/>
          <p:cNvSpPr/>
          <p:nvPr/>
        </p:nvSpPr>
        <p:spPr>
          <a:xfrm>
            <a:off x="4617720" y="4553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09360" y="4553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88.54%  |  Test Loss: 0.3334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Implementation Highlights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694944"/>
            <a:ext cx="8631936" cy="36576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114800" cy="274320"/>
          </a:xfrm>
          <a:prstGeom prst="rect">
            <a:avLst/>
          </a:prstGeom>
          <a:solidFill>
            <a:srgbClr val="1B6B7B">
              <a:alpha val="7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329184" y="850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Model Builder Function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114800" cy="1691640"/>
          </a:xfrm>
          <a:prstGeom prst="rect">
            <a:avLst/>
          </a:prstGeom>
          <a:solidFill>
            <a:srgbClr val="0A1520"/>
          </a:solidFill>
          <a:ln w="635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347472" y="1188720"/>
            <a:ext cx="39136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BB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850" b="1" dirty="0">
                <a:solidFill>
                  <a:srgbClr val="5D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build_model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(hidden_layers=</a:t>
            </a:r>
            <a:r>
              <a:rPr lang="en-US" sz="85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neurons=</a:t>
            </a:r>
            <a:r>
              <a:rPr lang="en-US" sz="85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activation=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dropout_rate=</a:t>
            </a:r>
            <a:r>
              <a:rPr lang="en-US" sz="85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  model</a:t>
            </a:r>
            <a:r>
              <a:rPr lang="en-US" sz="850" dirty="0">
                <a:solidFill>
                  <a:srgbClr val="5BB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keras.Sequential()
  model.add</a:t>
            </a:r>
            <a:r>
              <a:rPr lang="en-US" sz="850" dirty="0">
                <a:solidFill>
                  <a:srgbClr val="5D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(Dense(neurons,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activation=activation))
  model.add</a:t>
            </a:r>
            <a:r>
              <a:rPr lang="en-US" sz="850" dirty="0">
                <a:solidFill>
                  <a:srgbClr val="5D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(Dropout(dropout_rate))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model.add</a:t>
            </a:r>
            <a:r>
              <a:rPr lang="en-US" sz="850" dirty="0">
                <a:solidFill>
                  <a:srgbClr val="5D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(Dense(</a:t>
            </a:r>
            <a:r>
              <a:rPr lang="en-US" sz="85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activation=</a:t>
            </a:r>
            <a:r>
              <a:rPr lang="en-US" sz="85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'softmax'</a:t>
            </a:r>
            <a:r>
              <a:rPr lang="en-US" sz="850" dirty="0">
                <a:solidFill>
                  <a:srgbClr val="5D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2907792"/>
            <a:ext cx="4114800" cy="274320"/>
          </a:xfrm>
          <a:prstGeom prst="rect">
            <a:avLst/>
          </a:prstGeom>
          <a:solidFill>
            <a:srgbClr val="1B6B7B">
              <a:alpha val="7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329184" y="2916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Training Call + Early Stopping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3182112"/>
            <a:ext cx="4114800" cy="1719072"/>
          </a:xfrm>
          <a:prstGeom prst="rect">
            <a:avLst/>
          </a:prstGeom>
          <a:solidFill>
            <a:srgbClr val="0A1520"/>
          </a:solidFill>
          <a:ln w="635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347472" y="3255264"/>
            <a:ext cx="39136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</a:t>
            </a:r>
            <a:r>
              <a:rPr lang="en-US" sz="850" dirty="0">
                <a:solidFill>
                  <a:srgbClr val="5BB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>
                <a:solidFill>
                  <a:srgbClr val="5D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EarlyStopping(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monitor=</a:t>
            </a:r>
            <a:r>
              <a:rPr lang="en-US" sz="85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'val_loss'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patience=</a:t>
            </a:r>
            <a:r>
              <a:rPr lang="en-US" sz="85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restore_best_weights=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BB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850" dirty="0">
                <a:solidFill>
                  <a:srgbClr val="5D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X_train, y_train,
  epochs=</a:t>
            </a:r>
            <a:r>
              <a:rPr lang="en-US" sz="85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batch_size=</a:t>
            </a:r>
            <a:r>
              <a:rPr lang="en-US" sz="85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validation_data=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(X_val, y_val)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callbacks=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850" dirty="0" err="1">
                <a:solidFill>
                  <a:srgbClr val="7D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</a:t>
            </a:r>
            <a:r>
              <a:rPr lang="en-US" sz="850" dirty="0">
                <a:solidFill>
                  <a:srgbClr val="7D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841248"/>
            <a:ext cx="4251960" cy="274320"/>
          </a:xfrm>
          <a:prstGeom prst="rect">
            <a:avLst/>
          </a:prstGeom>
          <a:solidFill>
            <a:srgbClr val="4A7C8E">
              <a:alpha val="7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690872" y="8503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5 Key Design Decisions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243584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4617720" y="1243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56048" y="1188720"/>
            <a:ext cx="3913632" cy="694944"/>
          </a:xfrm>
          <a:prstGeom prst="rect">
            <a:avLst/>
          </a:prstGeom>
          <a:solidFill>
            <a:srgbClr val="0D1E2E"/>
          </a:solidFill>
          <a:ln w="635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5047488" y="12435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builder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47488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handles all 5 configs — hidden layers, neurons, activation, dropout &amp; lr are all parameters, not hardcoded.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2011680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461772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56048" y="1956816"/>
            <a:ext cx="3913632" cy="694944"/>
          </a:xfrm>
          <a:prstGeom prst="rect">
            <a:avLst/>
          </a:prstGeom>
          <a:solidFill>
            <a:srgbClr val="0D1E2E"/>
          </a:solidFill>
          <a:ln w="635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5047488" y="2011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 halving per 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47488" y="22494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hidden layer gets neurons // 2 — compresses features gradually, like a funnel, forcing the network to abstract.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2779776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461772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56048" y="2724912"/>
            <a:ext cx="3913632" cy="694944"/>
          </a:xfrm>
          <a:prstGeom prst="rect">
            <a:avLst/>
          </a:prstGeom>
          <a:solidFill>
            <a:srgbClr val="0D1E2E"/>
          </a:solidFill>
          <a:ln w="635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5047488" y="2779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47488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10-neuron output with Softmax converts raw scores into probabilities that sum to 1 — ideal for multi-class classification.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3547872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461772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56048" y="3493008"/>
            <a:ext cx="3913632" cy="694944"/>
          </a:xfrm>
          <a:prstGeom prst="rect">
            <a:avLst/>
          </a:prstGeom>
          <a:solidFill>
            <a:srgbClr val="0D1E2E"/>
          </a:solidFill>
          <a:ln w="635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5047488" y="3547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47488" y="37856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 ensures all 10 classes appear proportionally in train, val, and test — no class imbalance introduced by splitting.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4315968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/>
          <p:nvPr/>
        </p:nvSpPr>
        <p:spPr>
          <a:xfrm>
            <a:off x="4617720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56048" y="4261104"/>
            <a:ext cx="3913632" cy="694944"/>
          </a:xfrm>
          <a:prstGeom prst="rect">
            <a:avLst/>
          </a:prstGeom>
          <a:solidFill>
            <a:srgbClr val="0D1E2E"/>
          </a:solidFill>
          <a:ln w="635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5047488" y="4315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best weights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47488" y="4553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with restore_best_weights=True rolls back to the epoch with lowest val_loss, avoiding accidental underfitting.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1" name="Text 39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·  Fashion MNIST Neural Network Classification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Training Results — Learning Curves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— Accuracy &amp; Loss Curves (25 Epochs, Early Stopped)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9052"/>
            <a:ext cx="8229600" cy="18790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584448"/>
            <a:ext cx="26974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6"/>
          <p:cNvSpPr/>
          <p:nvPr/>
        </p:nvSpPr>
        <p:spPr>
          <a:xfrm>
            <a:off x="274320" y="3584448"/>
            <a:ext cx="2697480" cy="45720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7"/>
          <p:cNvSpPr/>
          <p:nvPr/>
        </p:nvSpPr>
        <p:spPr>
          <a:xfrm>
            <a:off x="384048" y="36758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Convergence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4005072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improves rapidly in first 5 epochs, stabilising around epoch 15–20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3584448"/>
            <a:ext cx="26974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3154680" y="3584448"/>
            <a:ext cx="2697480" cy="45720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1"/>
          <p:cNvSpPr/>
          <p:nvPr/>
        </p:nvSpPr>
        <p:spPr>
          <a:xfrm>
            <a:off x="3264408" y="36758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64408" y="4005072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validation curves remain close — good generalisation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3584448"/>
            <a:ext cx="26974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4"/>
          <p:cNvSpPr/>
          <p:nvPr/>
        </p:nvSpPr>
        <p:spPr>
          <a:xfrm>
            <a:off x="6035040" y="3584448"/>
            <a:ext cx="2697480" cy="45720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5"/>
          <p:cNvSpPr/>
          <p:nvPr/>
        </p:nvSpPr>
        <p:spPr>
          <a:xfrm>
            <a:off x="6144768" y="36758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Accuracy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44768" y="4005072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89.19% achieved at epoch ~20, then plateau triggers early stop at epoch 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Evaluation — Confusion Matrix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10,000 Test Images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534924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078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Misclassifications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5216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→ T-shirt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52160" y="1636776"/>
            <a:ext cx="2926080" cy="164592"/>
          </a:xfrm>
          <a:prstGeom prst="rect">
            <a:avLst/>
          </a:prstGeom>
          <a:solidFill>
            <a:srgbClr val="B8D4D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Shape 7"/>
          <p:cNvSpPr/>
          <p:nvPr/>
        </p:nvSpPr>
        <p:spPr>
          <a:xfrm>
            <a:off x="5852160" y="1636776"/>
            <a:ext cx="2926080" cy="164592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8"/>
          <p:cNvSpPr/>
          <p:nvPr/>
        </p:nvSpPr>
        <p:spPr>
          <a:xfrm>
            <a:off x="8686800" y="15133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52160" y="1901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 → Pullover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2121408"/>
            <a:ext cx="2926080" cy="164592"/>
          </a:xfrm>
          <a:prstGeom prst="rect">
            <a:avLst/>
          </a:prstGeom>
          <a:solidFill>
            <a:srgbClr val="B8D4D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Shape 11"/>
          <p:cNvSpPr/>
          <p:nvPr/>
        </p:nvSpPr>
        <p:spPr>
          <a:xfrm>
            <a:off x="5852160" y="2121408"/>
            <a:ext cx="2392124" cy="164592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Text 12"/>
          <p:cNvSpPr/>
          <p:nvPr/>
        </p:nvSpPr>
        <p:spPr>
          <a:xfrm>
            <a:off x="8686800" y="207340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23865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Pullover → Coat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52160" y="2606040"/>
            <a:ext cx="2926080" cy="164592"/>
          </a:xfrm>
          <a:prstGeom prst="rect">
            <a:avLst/>
          </a:prstGeom>
          <a:solidFill>
            <a:srgbClr val="B8D4D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Shape 15"/>
          <p:cNvSpPr/>
          <p:nvPr/>
        </p:nvSpPr>
        <p:spPr>
          <a:xfrm>
            <a:off x="5852160" y="2606040"/>
            <a:ext cx="2221258" cy="164592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6"/>
          <p:cNvSpPr/>
          <p:nvPr/>
        </p:nvSpPr>
        <p:spPr>
          <a:xfrm>
            <a:off x="8686800" y="255803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852160" y="2871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→ Pullover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52160" y="3090672"/>
            <a:ext cx="2926080" cy="164592"/>
          </a:xfrm>
          <a:prstGeom prst="rect">
            <a:avLst/>
          </a:prstGeom>
          <a:solidFill>
            <a:srgbClr val="B8D4D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Shape 19"/>
          <p:cNvSpPr/>
          <p:nvPr/>
        </p:nvSpPr>
        <p:spPr>
          <a:xfrm>
            <a:off x="5852160" y="3090672"/>
            <a:ext cx="1900884" cy="164592"/>
          </a:xfrm>
          <a:prstGeom prst="rect">
            <a:avLst/>
          </a:prstGeom>
          <a:solidFill>
            <a:srgbClr val="E8822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3" name="Text 20"/>
          <p:cNvSpPr/>
          <p:nvPr/>
        </p:nvSpPr>
        <p:spPr>
          <a:xfrm>
            <a:off x="8641080" y="3050667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852160" y="3355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→ Coat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852160" y="3575304"/>
            <a:ext cx="2926080" cy="164592"/>
          </a:xfrm>
          <a:prstGeom prst="rect">
            <a:avLst/>
          </a:prstGeom>
          <a:solidFill>
            <a:srgbClr val="B8D4D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Shape 23"/>
          <p:cNvSpPr/>
          <p:nvPr/>
        </p:nvSpPr>
        <p:spPr>
          <a:xfrm>
            <a:off x="5852160" y="3575304"/>
            <a:ext cx="1751376" cy="164592"/>
          </a:xfrm>
          <a:prstGeom prst="rect">
            <a:avLst/>
          </a:prstGeom>
          <a:solidFill>
            <a:srgbClr val="E8822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7" name="Text 24"/>
          <p:cNvSpPr/>
          <p:nvPr/>
        </p:nvSpPr>
        <p:spPr>
          <a:xfrm>
            <a:off x="8595360" y="35347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5216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 → Shirt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852160" y="4059936"/>
            <a:ext cx="2926080" cy="164592"/>
          </a:xfrm>
          <a:prstGeom prst="rect">
            <a:avLst/>
          </a:prstGeom>
          <a:solidFill>
            <a:srgbClr val="B8D4D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0" name="Shape 27"/>
          <p:cNvSpPr/>
          <p:nvPr/>
        </p:nvSpPr>
        <p:spPr>
          <a:xfrm>
            <a:off x="5852160" y="4059936"/>
            <a:ext cx="1708660" cy="164592"/>
          </a:xfrm>
          <a:prstGeom prst="rect">
            <a:avLst/>
          </a:prstGeom>
          <a:solidFill>
            <a:srgbClr val="7DA5B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1" name="Text 28"/>
          <p:cNvSpPr/>
          <p:nvPr/>
        </p:nvSpPr>
        <p:spPr>
          <a:xfrm>
            <a:off x="8641080" y="40069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85216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Pullover → Shirt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852160" y="4544568"/>
            <a:ext cx="2926080" cy="164592"/>
          </a:xfrm>
          <a:prstGeom prst="rect">
            <a:avLst/>
          </a:prstGeom>
          <a:solidFill>
            <a:srgbClr val="B8D4D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4" name="Shape 31"/>
          <p:cNvSpPr/>
          <p:nvPr/>
        </p:nvSpPr>
        <p:spPr>
          <a:xfrm>
            <a:off x="5852160" y="4544568"/>
            <a:ext cx="1345570" cy="164592"/>
          </a:xfrm>
          <a:prstGeom prst="rect">
            <a:avLst/>
          </a:prstGeom>
          <a:solidFill>
            <a:srgbClr val="7DA5B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5" name="Text 32"/>
          <p:cNvSpPr/>
          <p:nvPr/>
        </p:nvSpPr>
        <p:spPr>
          <a:xfrm>
            <a:off x="8628070" y="4512081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852160" y="4773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Upper-body tops remain hardest to distinguish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Confidence Analysis &amp;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6576"/>
          </a:xfrm>
          <a:prstGeom prst="rect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Confidence Distribution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33856"/>
            <a:ext cx="5029200" cy="1691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822960"/>
            <a:ext cx="3246120" cy="2057400"/>
          </a:xfrm>
          <a:prstGeom prst="rect">
            <a:avLst/>
          </a:prstGeom>
          <a:solidFill>
            <a:srgbClr val="162032"/>
          </a:solidFill>
          <a:ln w="12700">
            <a:solidFill>
              <a:srgbClr val="2D8C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715000" y="886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60920" y="1261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88.54%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1500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Score: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60920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 (F1):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60920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Trouser / Bag — 0.98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0" y="2221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Class: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60920" y="2221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— 0.69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15000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Errors: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6092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1,146 / 10,000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2944368"/>
            <a:ext cx="8595360" cy="36576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Text 17"/>
          <p:cNvSpPr/>
          <p:nvPr/>
        </p:nvSpPr>
        <p:spPr>
          <a:xfrm>
            <a:off x="27432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74320" y="3419856"/>
            <a:ext cx="201168" cy="201168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19"/>
          <p:cNvSpPr/>
          <p:nvPr/>
        </p:nvSpPr>
        <p:spPr>
          <a:xfrm>
            <a:off x="548640" y="3323435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Neural Network with 2 hidden layers (128→64 neurons) reached 88.54% test accuracy on 10,000 unseen images.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950208"/>
            <a:ext cx="201168" cy="201168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4" name="Text 21"/>
          <p:cNvSpPr/>
          <p:nvPr/>
        </p:nvSpPr>
        <p:spPr>
          <a:xfrm>
            <a:off x="566928" y="38359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distinct items (Trouser, Bag, Sandal) achieved near-perfect F1 of 0.97–0.98; visually similar tops remain challenging.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4480560"/>
            <a:ext cx="201168" cy="201168"/>
          </a:xfrm>
          <a:prstGeom prst="ellipse">
            <a:avLst/>
          </a:prstGeom>
          <a:solidFill>
            <a:srgbClr val="1B6B7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Text 23"/>
          <p:cNvSpPr/>
          <p:nvPr/>
        </p:nvSpPr>
        <p:spPr>
          <a:xfrm>
            <a:off x="566928" y="43251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improvements: Convolutional layers (CNN), Batch Normalisation, Data Augmentation, and Learning Rate Scheduling.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28" name="Text 2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·  Fashion MNIST Neural Network Classification 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968</Words>
  <Application>Microsoft Macintosh PowerPoint</Application>
  <PresentationFormat>On-screen Show (16:9)</PresentationFormat>
  <Paragraphs>189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MNIST — Neural Network Classification</dc:title>
  <dc:subject>PptxGenJS Presentation</dc:subject>
  <dc:creator>Group 6</dc:creator>
  <cp:lastModifiedBy>FNU LNU</cp:lastModifiedBy>
  <cp:revision>5</cp:revision>
  <dcterms:created xsi:type="dcterms:W3CDTF">2026-03-27T10:47:54Z</dcterms:created>
  <dcterms:modified xsi:type="dcterms:W3CDTF">2026-03-27T17:30:26Z</dcterms:modified>
</cp:coreProperties>
</file>